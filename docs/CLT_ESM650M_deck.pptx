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60-second version: I train Cross-Layer Transcoders (CLTs) on the internal activations of ESM-2 650M to decompose its computation into sparse, interpretable features and trace circuits across layers. Objective 1 is making 650M CLT training fast and memory-tractable so the recipe scales to ESM-C.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Frame: I come from a systems + applied-ML background, which is why the efficiency/scaling side of this project is a natural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deliverable is not just predictions but causal circuits — scientific hypotheses about protein biology.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Nainani uses per-layer SAEs (miss cross-layer computation); ProtoMech is at 8–35M. The 650M regime is the open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CLT over SAE: a per-layer SAE sees a frozen snapshot at each depth and cannot represent feature-A-writes-into-feature-B across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honest status: the pipeline trains end-to-end; the open problem is cost, not correctness.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Ordered by impact. Caching is the single biggest lever because ESM-2's weights never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Storage is the catch for caching: cache a layer subset or stream a ring buffer at ESM-C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gates that define success for Objective 1 before moving to biology.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Discussion hooks for Xiaocong: is KL-FVU the right objective for circuits vs pure faithfulness? How much cross-layer reach is enough?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one-line arc: it runs; the job now is efficiency, then the biology it unlocks.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3175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>
                <a:solidFill>
                  <a:srgbClr val="2D6E7E"/>
                </a:solidFill>
                <a:latin typeface="Calibri"/>
              </a:rPr>
              <a:t>SAGE LAB · MECHANISTIC INTERPRETABILITY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241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200" b="1">
                <a:solidFill>
                  <a:srgbClr val="1A1F2B"/>
                </a:solidFill>
                <a:latin typeface="Calibri"/>
              </a:rPr>
              <a:t>Cross-Layer Transcoders for Protein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900" b="0">
                <a:solidFill>
                  <a:srgbClr val="5B6372"/>
                </a:solidFill>
                <a:latin typeface="Calibri"/>
              </a:rPr>
              <a:t>Scaling sparse circuit tracing to ESM-2 650M for zero-shot mutation-effect prediction.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492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A1F2B"/>
                </a:solidFill>
                <a:latin typeface="Calibri"/>
              </a:rPr>
              <a:t>Sagnik Chatterjee — Graduate Student Researcher, SAGE Lab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Calibri"/>
              </a:rPr>
              <a:t>Advisors: Saishradha Mohanty · Anna Green · University of Massachusetts Amherst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Calibri"/>
              </a:rPr>
              <a:t>Working session with Xiaocong Yang (UIUC)  ·  2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200"/>
            </a:pPr>
            <a:r>
              <a:rPr sz="1200" b="1">
                <a:solidFill>
                  <a:srgbClr val="2D6E7E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1A1F2B"/>
                </a:solidFill>
                <a:latin typeface="Calibri"/>
              </a:rPr>
              <a:t>About 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07040" cy="2794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5B6372"/>
                </a:solidFill>
                <a:latin typeface="Calibri"/>
              </a:rPr>
              <a:t>Cross-Layer Transcoders · ESM-2 650M · SAGE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Calibri"/>
              </a:rPr>
              <a:t>01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607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D6E7E"/>
                </a:solidFill>
                <a:latin typeface="Calibri"/>
              </a:rPr>
              <a:t>▪  </a:t>
            </a:r>
            <a:r>
              <a:rPr sz="1500" b="0">
                <a:solidFill>
                  <a:srgbClr val="1A1F2B"/>
                </a:solidFill>
                <a:latin typeface="Calibri"/>
              </a:rPr>
              <a:t>MS in Computer Science, UMass Amherst (2025–2027); BE in Computer Science, Manipal Institute of Technology.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D6E7E"/>
                </a:solidFill>
                <a:latin typeface="Calibri"/>
              </a:rPr>
              <a:t>▪  </a:t>
            </a:r>
            <a:r>
              <a:rPr sz="1500" b="0">
                <a:solidFill>
                  <a:srgbClr val="1A1F2B"/>
                </a:solidFill>
                <a:latin typeface="Calibri"/>
              </a:rPr>
              <a:t>Graduate Student Researcher, SAGE Lab (May 2026–present) — mechanistic interpretability for protein language models.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D6E7E"/>
                </a:solidFill>
                <a:latin typeface="Calibri"/>
              </a:rPr>
              <a:t>▪  </a:t>
            </a:r>
            <a:r>
              <a:rPr sz="1500" b="0">
                <a:solidFill>
                  <a:srgbClr val="1A1F2B"/>
                </a:solidFill>
                <a:latin typeface="Calibri"/>
              </a:rPr>
              <a:t>Prior UMass research: CIIR Lab (typed recursive-agent frameworks) and BioNLP Lab (LoRA fine-tuning of LLaMA-3, +6.25pp on USMLE).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D6E7E"/>
                </a:solidFill>
                <a:latin typeface="Calibri"/>
              </a:rPr>
              <a:t>▪  </a:t>
            </a:r>
            <a:r>
              <a:rPr sz="1500" b="0">
                <a:solidFill>
                  <a:srgbClr val="1A1F2B"/>
                </a:solidFill>
                <a:latin typeface="Calibri"/>
              </a:rPr>
              <a:t>Three 2026 preprints: small-LM reasoning, continual tool-use, and biological sequence representation (SCOPE operon embeddings).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D6E7E"/>
                </a:solidFill>
                <a:latin typeface="Calibri"/>
              </a:rPr>
              <a:t>▪  </a:t>
            </a:r>
            <a:r>
              <a:rPr sz="1500" b="0">
                <a:solidFill>
                  <a:srgbClr val="1A1F2B"/>
                </a:solidFill>
                <a:latin typeface="Calibri"/>
              </a:rPr>
              <a:t>Three years as Backend &amp; Integration engineer at IBM — distributed systems, Kafka pipelines, observability at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200"/>
            </a:pPr>
            <a:r>
              <a:rPr sz="1200" b="1">
                <a:solidFill>
                  <a:srgbClr val="2D6E7E"/>
                </a:solidFill>
                <a:latin typeface="Calibri"/>
              </a:rPr>
              <a:t>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1A1F2B"/>
                </a:solidFill>
                <a:latin typeface="Calibri"/>
              </a:rPr>
              <a:t>What I am building in the SAGE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07040" cy="2794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5B6372"/>
                </a:solidFill>
                <a:latin typeface="Calibri"/>
              </a:rPr>
              <a:t>Cross-Layer Transcoders · ESM-2 650M · SAGE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Calibri"/>
              </a:rPr>
              <a:t>02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607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2D6E7E"/>
                </a:solidFill>
                <a:latin typeface="Calibri"/>
              </a:rPr>
              <a:t>▪  </a:t>
            </a:r>
            <a:r>
              <a:rPr sz="1650" b="0">
                <a:solidFill>
                  <a:srgbClr val="1A1F2B"/>
                </a:solidFill>
                <a:latin typeface="Calibri"/>
              </a:rPr>
              <a:t>A cross-layer transcoder (CLT) for ESM-2 650M enabling unsupervised zero-shot mutation-effect prediction.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2D6E7E"/>
                </a:solidFill>
                <a:latin typeface="Calibri"/>
              </a:rPr>
              <a:t>▪  </a:t>
            </a:r>
            <a:r>
              <a:rPr sz="1650" b="0">
                <a:solidFill>
                  <a:srgbClr val="1A1F2B"/>
                </a:solidFill>
                <a:latin typeface="Calibri"/>
              </a:rPr>
              <a:t>Extending mechanistic interpretability from language models to protein language models at scale.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2D6E7E"/>
                </a:solidFill>
                <a:latin typeface="Calibri"/>
              </a:rPr>
              <a:t>▪  </a:t>
            </a:r>
            <a:r>
              <a:rPr sz="1650" b="0">
                <a:solidFill>
                  <a:srgbClr val="1A1F2B"/>
                </a:solidFill>
                <a:latin typeface="Calibri"/>
              </a:rPr>
              <a:t>Building biological circuits from sparse CLT features to test whether ESM-2 650M encodes structurally and evolutionarily meaningful representations.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2D6E7E"/>
                </a:solidFill>
                <a:latin typeface="Calibri"/>
              </a:rPr>
              <a:t>▪  </a:t>
            </a:r>
            <a:r>
              <a:rPr sz="1650" b="0">
                <a:solidFill>
                  <a:srgbClr val="1A1F2B"/>
                </a:solidFill>
                <a:latin typeface="Calibri"/>
              </a:rPr>
              <a:t>Codebase: a fork of EleutherAI's sparsify, extended with CLT support, tensor parallelism, bfloat16, and a KL+FVU loss.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200"/>
            </a:pPr>
            <a:r>
              <a:rPr sz="1200" b="1">
                <a:solidFill>
                  <a:srgbClr val="2D6E7E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1A1F2B"/>
                </a:solidFill>
                <a:latin typeface="Calibri"/>
              </a:rPr>
              <a:t>Why mechanistic interpretability for proteins?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07040" cy="2794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5B6372"/>
                </a:solidFill>
                <a:latin typeface="Calibri"/>
              </a:rPr>
              <a:t>Cross-Layer Transcoders · ESM-2 650M · SAGE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Calibri"/>
              </a:rPr>
              <a:t>03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607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2D6E7E"/>
                </a:solidFill>
                <a:latin typeface="Calibri"/>
              </a:rPr>
              <a:t>▪  </a:t>
            </a:r>
            <a:r>
              <a:rPr sz="1650" b="0">
                <a:solidFill>
                  <a:srgbClr val="1A1F2B"/>
                </a:solidFill>
                <a:latin typeface="Calibri"/>
              </a:rPr>
              <a:t>ESM-2 predicts structure and function from sequence and underpins modern computational biology — but how it computes contacts and functional sites is opaque.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2D6E7E"/>
                </a:solidFill>
                <a:latin typeface="Calibri"/>
              </a:rPr>
              <a:t>▪  </a:t>
            </a:r>
            <a:r>
              <a:rPr sz="1650" b="0">
                <a:solidFill>
                  <a:srgbClr val="1A1F2B"/>
                </a:solidFill>
                <a:latin typeface="Calibri"/>
              </a:rPr>
              <a:t>Causal circuits yield scientific hypotheses, not just predictions — e.g. “a catalytic-motif feature at layer 6 gates a domain-recognition feature at layer 20.”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2D6E7E"/>
                </a:solidFill>
                <a:latin typeface="Calibri"/>
              </a:rPr>
              <a:t>▪  </a:t>
            </a:r>
            <a:r>
              <a:rPr sz="1650" b="0">
                <a:solidFill>
                  <a:srgbClr val="1A1F2B"/>
                </a:solidFill>
                <a:latin typeface="Calibri"/>
              </a:rPr>
              <a:t>Frontier: Nainani et al. 2025 (SAE latents causally mediate contact prediction) and ProtoMech 2026 (CLTs recover 82–89% at ESM2-8M/35M).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2D6E7E"/>
                </a:solidFill>
                <a:latin typeface="Calibri"/>
              </a:rPr>
              <a:t>▪  </a:t>
            </a:r>
            <a:r>
              <a:rPr sz="1650" b="0">
                <a:solidFill>
                  <a:srgbClr val="1A1F2B"/>
                </a:solidFill>
                <a:latin typeface="Calibri"/>
              </a:rPr>
              <a:t>The gap: nobody has trained CLTs at 650M — rich enough to matter biologically, but the training cost explodes. That is this project.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200"/>
            </a:pPr>
            <a:r>
              <a:rPr sz="1200" b="1">
                <a:solidFill>
                  <a:srgbClr val="2D6E7E"/>
                </a:solidFill>
                <a:latin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1A1F2B"/>
                </a:solidFill>
                <a:latin typeface="Calibri"/>
              </a:rPr>
              <a:t>SAE → Transcoder → Cross-Layer Transcoder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07040" cy="2794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5B6372"/>
                </a:solidFill>
                <a:latin typeface="Calibri"/>
              </a:rPr>
              <a:t>Cross-Layer Transcoders · ESM-2 650M · SAGE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Calibri"/>
              </a:rPr>
              <a:t>04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10607040" cy="1691640"/>
          </a:xfrm>
          <a:prstGeom prst="rect">
            <a:avLst/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40280"/>
            <a:ext cx="100584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E7E9EC"/>
                </a:solidFill>
                <a:latin typeface="Consolas"/>
              </a:rPr>
              <a:t>                 reads            predicts (reconstructs)</a:t>
            </a:r>
          </a:p>
          <a:p>
            <a:pPr>
              <a:lnSpc>
                <a:spcPct val="118000"/>
              </a:lnSpc>
            </a:pPr>
            <a:r>
              <a:rPr sz="1300" b="0">
                <a:solidFill>
                  <a:srgbClr val="E7E9EC"/>
                </a:solidFill>
                <a:latin typeface="Consolas"/>
              </a:rPr>
              <a:t>  SAE            act at L      →   same act at L</a:t>
            </a:r>
          </a:p>
          <a:p>
            <a:pPr>
              <a:lnSpc>
                <a:spcPct val="118000"/>
              </a:lnSpc>
            </a:pPr>
            <a:r>
              <a:rPr sz="1300" b="0">
                <a:solidFill>
                  <a:srgbClr val="E7E9EC"/>
                </a:solidFill>
                <a:latin typeface="Consolas"/>
              </a:rPr>
              <a:t>  Transcoder     input of L    →   OUTPUT of L</a:t>
            </a:r>
          </a:p>
          <a:p>
            <a:pPr>
              <a:lnSpc>
                <a:spcPct val="118000"/>
              </a:lnSpc>
            </a:pPr>
            <a:r>
              <a:rPr sz="1300" b="0">
                <a:solidFill>
                  <a:srgbClr val="E7E9EC"/>
                </a:solidFill>
                <a:latin typeface="Consolas"/>
              </a:rPr>
              <a:t>  CLT (mine)     input of L    →   outputs of L, L+1, …, L+N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2D6E7E"/>
                </a:solidFill>
                <a:latin typeface="Calibri"/>
              </a:rPr>
              <a:t>▪  </a:t>
            </a:r>
            <a:r>
              <a:rPr sz="1550" b="0">
                <a:solidFill>
                  <a:srgbClr val="1A1F2B"/>
                </a:solidFill>
                <a:latin typeface="Calibri"/>
              </a:rPr>
              <a:t>Real biological computation flows across layers. A CLT encoder fires once at layer L; its decoder emits into every downstream target — the learned dictionary is the cross-layer wiring.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2D6E7E"/>
                </a:solidFill>
                <a:latin typeface="Calibri"/>
              </a:rPr>
              <a:t>▪  </a:t>
            </a:r>
            <a:r>
              <a:rPr sz="1550" b="0">
                <a:solidFill>
                  <a:srgbClr val="1A1F2B"/>
                </a:solidFill>
                <a:latin typeface="Calibri"/>
              </a:rPr>
              <a:t>TopK activation (Gao 2024) fires exactly k latents per token, no L1 tuning. Expansion 128 × d_model 1280 = 163,840 latents per layer.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200"/>
            </a:pPr>
            <a:r>
              <a:rPr sz="1200" b="1">
                <a:solidFill>
                  <a:srgbClr val="2D6E7E"/>
                </a:solidFill>
                <a:latin typeface="Calibri"/>
              </a:rPr>
              <a:t>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1A1F2B"/>
                </a:solidFill>
                <a:latin typeface="Calibri"/>
              </a:rPr>
              <a:t>Progress so far — what runs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07040" cy="2794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5B6372"/>
                </a:solidFill>
                <a:latin typeface="Calibri"/>
              </a:rPr>
              <a:t>Cross-Layer Transcoders · ESM-2 650M · SAGE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Calibri"/>
              </a:rPr>
              <a:t>05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607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D6E7E"/>
                </a:solidFill>
                <a:latin typeface="Calibri"/>
              </a:rPr>
              <a:t>▪  </a:t>
            </a:r>
            <a:r>
              <a:rPr sz="1500" b="0">
                <a:solidFill>
                  <a:srgbClr val="1A1F2B"/>
                </a:solidFill>
                <a:latin typeface="Calibri"/>
              </a:rPr>
              <a:t>ESM-2 650M integrated into the sparsify pipeline: CLS-token handling, no-BOS, hookpoints before layernorm.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D6E7E"/>
                </a:solidFill>
                <a:latin typeface="Calibri"/>
              </a:rPr>
              <a:t>▪  </a:t>
            </a:r>
            <a:r>
              <a:rPr sz="1500" b="0">
                <a:solidFill>
                  <a:srgbClr val="1A1F2B"/>
                </a:solidFill>
                <a:latin typeface="Calibri"/>
              </a:rPr>
              <a:t>Cross-layer transcoder training working — configurable reach and four coalescing strategies (none, concat, per-layer, group).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D6E7E"/>
                </a:solidFill>
                <a:latin typeface="Calibri"/>
              </a:rPr>
              <a:t>▪  </a:t>
            </a:r>
            <a:r>
              <a:rPr sz="1500" b="0">
                <a:solidFill>
                  <a:srgbClr val="1A1F2B"/>
                </a:solidFill>
                <a:latin typeface="Calibri"/>
              </a:rPr>
              <a:t>KL + FVU training implemented — reconstruct well and stay faithful to ESM-2's computation.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D6E7E"/>
                </a:solidFill>
                <a:latin typeface="Calibri"/>
              </a:rPr>
              <a:t>▪  </a:t>
            </a:r>
            <a:r>
              <a:rPr sz="1500" b="0">
                <a:solidFill>
                  <a:srgbClr val="1A1F2B"/>
                </a:solidFill>
                <a:latin typeface="Calibri"/>
              </a:rPr>
              <a:t>Tensor parallelism via DTensor plus bfloat16 for weights that exceed a single GPU.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D6E7E"/>
                </a:solidFill>
                <a:latin typeface="Calibri"/>
              </a:rPr>
              <a:t>▪  </a:t>
            </a:r>
            <a:r>
              <a:rPr sz="1500" b="0">
                <a:solidFill>
                  <a:srgbClr val="1A1F2B"/>
                </a:solidFill>
                <a:latin typeface="Calibri"/>
              </a:rPr>
              <a:t>Sweep analysis ranking W&amp;B runs by FVU, replacement-CE increase, L0, and dead-latent percentage.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D6E7E"/>
                </a:solidFill>
                <a:latin typeface="Calibri"/>
              </a:rPr>
              <a:t>▪  </a:t>
            </a:r>
            <a:r>
              <a:rPr sz="1500" b="0">
                <a:solidFill>
                  <a:srgbClr val="1A1F2B"/>
                </a:solidFill>
                <a:latin typeface="Calibri"/>
              </a:rPr>
              <a:t>Current focus (Objective 1): make 650M CLT training fast and memory-tractable so the recipe can scale.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200"/>
            </a:pPr>
            <a:r>
              <a:rPr sz="1200" b="1">
                <a:solidFill>
                  <a:srgbClr val="2D6E7E"/>
                </a:solidFill>
                <a:latin typeface="Calibri"/>
              </a:rPr>
              <a:t>THE HARD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1A1F2B"/>
                </a:solidFill>
                <a:latin typeface="Calibri"/>
              </a:rPr>
              <a:t>Why is 650M CLT training slow?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07040" cy="2794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5B6372"/>
                </a:solidFill>
                <a:latin typeface="Calibri"/>
              </a:rPr>
              <a:t>Cross-Layer Transcoders · ESM-2 650M · SAGE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Calibri"/>
              </a:rPr>
              <a:t>06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10881360" cy="50292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57400"/>
            <a:ext cx="3017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3672" y="205740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What happens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108813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560320"/>
            <a:ext cx="3017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00" b="1">
                <a:solidFill>
                  <a:srgbClr val="1A1F2B"/>
                </a:solidFill>
                <a:latin typeface="Calibri"/>
              </a:rPr>
              <a:t>1 · No activation caching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2" y="2560320"/>
            <a:ext cx="7315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00" b="0">
                <a:solidFill>
                  <a:srgbClr val="1A1F2B"/>
                </a:solidFill>
                <a:latin typeface="Calibri"/>
              </a:rPr>
              <a:t>Full frozen ESM-2 650M forward pass every step (two passes for KL-FVU); every sweep re-runs ESM-2 from scratch.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383280"/>
            <a:ext cx="10881360" cy="822960"/>
          </a:xfrm>
          <a:prstGeom prst="rect">
            <a:avLst/>
          </a:prstGeom>
          <a:solidFill>
            <a:srgbClr val="F1EEE7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383280"/>
            <a:ext cx="3017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00" b="1">
                <a:solidFill>
                  <a:srgbClr val="1A1F2B"/>
                </a:solidFill>
                <a:latin typeface="Calibri"/>
              </a:rPr>
              <a:t>2 · Enormous CLT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3383280"/>
            <a:ext cx="7315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00" b="0">
                <a:solidFill>
                  <a:srgbClr val="1A1F2B"/>
                </a:solidFill>
                <a:latin typeface="Calibri"/>
              </a:rPr>
              <a:t>At EF=128, cross_layer=12: ~89B params across 33 layers — larger than ESM-2 itself, ~121× the 35M recipe.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206240"/>
            <a:ext cx="108813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206240"/>
            <a:ext cx="3017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00" b="1">
                <a:solidFill>
                  <a:srgbClr val="1A1F2B"/>
                </a:solidFill>
                <a:latin typeface="Calibri"/>
              </a:rPr>
              <a:t>3 · Scale &amp; comms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3672" y="4206240"/>
            <a:ext cx="7315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00" b="0">
                <a:solidFill>
                  <a:srgbClr val="1A1F2B"/>
                </a:solidFill>
                <a:latin typeface="Calibri"/>
              </a:rPr>
              <a:t>TopK over 163,840 latents × ~32K tokens; DTensor all-gather each layer; custom backward blocks torch.compile.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200"/>
            </a:pPr>
            <a:r>
              <a:rPr sz="1200" b="1">
                <a:solidFill>
                  <a:srgbClr val="2D6E7E"/>
                </a:solidFill>
                <a:latin typeface="Calibri"/>
              </a:rPr>
              <a:t>FUTURE ·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1A1F2B"/>
                </a:solidFill>
                <a:latin typeface="Calibri"/>
              </a:rPr>
              <a:t>Efficiency roadmap (impact → effort)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07040" cy="2794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5B6372"/>
                </a:solidFill>
                <a:latin typeface="Calibri"/>
              </a:rPr>
              <a:t>Cross-Layer Transcoders · ESM-2 650M · SAGE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Calibri"/>
              </a:rPr>
              <a:t>07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607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D6E7E"/>
                </a:solidFill>
                <a:latin typeface="Calibri"/>
              </a:rPr>
              <a:t>▪  </a:t>
            </a:r>
            <a:r>
              <a:rPr sz="1500" b="0">
                <a:solidFill>
                  <a:srgbClr val="1A1F2B"/>
                </a:solidFill>
                <a:latin typeface="Calibri"/>
              </a:rPr>
              <a:t>Profile first — torch.profiler / nsys to split time between ESM-2 forward and CLT before changing anything.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D6E7E"/>
                </a:solidFill>
                <a:latin typeface="Calibri"/>
              </a:rPr>
              <a:t>▪  </a:t>
            </a:r>
            <a:r>
              <a:rPr sz="1500" b="0">
                <a:solidFill>
                  <a:srgbClr val="1A1F2B"/>
                </a:solidFill>
                <a:latin typeface="Calibri"/>
              </a:rPr>
              <a:t>Activation caching — precompute and memory-map ESM-2 activations; expected 3–10× speedup, sweeps become near-free.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D6E7E"/>
                </a:solidFill>
                <a:latin typeface="Calibri"/>
              </a:rPr>
              <a:t>▪  </a:t>
            </a:r>
            <a:r>
              <a:rPr sz="1500" b="0">
                <a:solidFill>
                  <a:srgbClr val="1A1F2B"/>
                </a:solidFill>
                <a:latin typeface="Calibri"/>
              </a:rPr>
              <a:t>Shrink the CLT — start EF=32, cross_layer=4–6, layer_stride=2; reproduce ProtoMech-quality at reduced scale first.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D6E7E"/>
                </a:solidFill>
                <a:latin typeface="Calibri"/>
              </a:rPr>
              <a:t>▪  </a:t>
            </a:r>
            <a:r>
              <a:rPr sz="1500" b="0">
                <a:solidFill>
                  <a:srgbClr val="1A1F2B"/>
                </a:solidFill>
                <a:latin typeface="Calibri"/>
              </a:rPr>
              <a:t>LoRA-style factorization — shared base dictionary + small per-target low-rank decoder adapters; low-rank encoder.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D6E7E"/>
                </a:solidFill>
                <a:latin typeface="Calibri"/>
              </a:rPr>
              <a:t>▪  </a:t>
            </a:r>
            <a:r>
              <a:rPr sz="1500" b="0">
                <a:solidFill>
                  <a:srgbClr val="1A1F2B"/>
                </a:solidFill>
                <a:latin typeface="Calibri"/>
              </a:rPr>
              <a:t>Loop-level wins — torch.compile coverage, 8-bit Adam, activation checkpointing, TP comms overlap.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200"/>
            </a:pPr>
            <a:r>
              <a:rPr sz="1200" b="1">
                <a:solidFill>
                  <a:srgbClr val="2D6E7E"/>
                </a:solidFill>
                <a:latin typeface="Calibri"/>
              </a:rPr>
              <a:t>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1A1F2B"/>
                </a:solidFill>
                <a:latin typeface="Calibri"/>
              </a:rPr>
              <a:t>What “tractable at 650M” means, measured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07040" cy="2794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5B6372"/>
                </a:solidFill>
                <a:latin typeface="Calibri"/>
              </a:rPr>
              <a:t>Cross-Layer Transcoders · ESM-2 650M · SAGE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Calibri"/>
              </a:rPr>
              <a:t>08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10881360" cy="50292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5740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057400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5512" y="2057400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560320"/>
            <a:ext cx="108813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560320"/>
            <a:ext cx="3383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00" b="1">
                <a:solidFill>
                  <a:srgbClr val="1A1F2B"/>
                </a:solidFill>
                <a:latin typeface="Calibri"/>
              </a:rPr>
              <a:t>val mean FVU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560320"/>
            <a:ext cx="2651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00" b="0">
                <a:solidFill>
                  <a:srgbClr val="1A1F2B"/>
                </a:solidFill>
                <a:latin typeface="Calibri"/>
              </a:rPr>
              <a:t>&lt; 0.05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60320"/>
            <a:ext cx="4023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00" b="0">
                <a:solidFill>
                  <a:srgbClr val="1A1F2B"/>
                </a:solidFill>
                <a:latin typeface="Calibri"/>
              </a:rPr>
              <a:t>reconstruction quality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83280"/>
            <a:ext cx="10881360" cy="822960"/>
          </a:xfrm>
          <a:prstGeom prst="rect">
            <a:avLst/>
          </a:prstGeom>
          <a:solidFill>
            <a:srgbClr val="F1EEE7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383280"/>
            <a:ext cx="3383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00" b="1">
                <a:solidFill>
                  <a:srgbClr val="1A1F2B"/>
                </a:solidFill>
                <a:latin typeface="Calibri"/>
              </a:rPr>
              <a:t>replacement CE increase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383280"/>
            <a:ext cx="2651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00" b="0">
                <a:solidFill>
                  <a:srgbClr val="1A1F2B"/>
                </a:solidFill>
                <a:latin typeface="Calibri"/>
              </a:rPr>
              <a:t>&lt; 0.1 nats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3383280"/>
            <a:ext cx="4023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00" b="0">
                <a:solidFill>
                  <a:srgbClr val="1A1F2B"/>
                </a:solidFill>
                <a:latin typeface="Calibri"/>
              </a:rPr>
              <a:t>faithfulness to ESM-2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206240"/>
            <a:ext cx="108813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206240"/>
            <a:ext cx="3383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00" b="1">
                <a:solidFill>
                  <a:srgbClr val="1A1F2B"/>
                </a:solidFill>
                <a:latin typeface="Calibri"/>
              </a:rPr>
              <a:t>dead latents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4206240"/>
            <a:ext cx="2651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00" b="0">
                <a:solidFill>
                  <a:srgbClr val="1A1F2B"/>
                </a:solidFill>
                <a:latin typeface="Calibri"/>
              </a:rPr>
              <a:t>&lt; 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5512" y="4206240"/>
            <a:ext cx="4023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00" b="0">
                <a:solidFill>
                  <a:srgbClr val="1A1F2B"/>
                </a:solidFill>
                <a:latin typeface="Calibri"/>
              </a:rPr>
              <a:t>dictionary utilization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029200"/>
            <a:ext cx="10881360" cy="822960"/>
          </a:xfrm>
          <a:prstGeom prst="rect">
            <a:avLst/>
          </a:prstGeom>
          <a:solidFill>
            <a:srgbClr val="F1EEE7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029200"/>
            <a:ext cx="3383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00" b="1">
                <a:solidFill>
                  <a:srgbClr val="1A1F2B"/>
                </a:solidFill>
                <a:latin typeface="Calibri"/>
              </a:rPr>
              <a:t>memory / throughput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5029200"/>
            <a:ext cx="2651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00" b="0">
                <a:solidFill>
                  <a:srgbClr val="1A1F2B"/>
                </a:solidFill>
                <a:latin typeface="Calibri"/>
              </a:rPr>
              <a:t>&lt; 40 GB/GPU, 3–10×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5512" y="5029200"/>
            <a:ext cx="4023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00" b="0">
                <a:solidFill>
                  <a:srgbClr val="1A1F2B"/>
                </a:solidFill>
                <a:latin typeface="Calibri"/>
              </a:rPr>
              <a:t>cheap enough to sweep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200"/>
            </a:pPr>
            <a:r>
              <a:rPr sz="1200" b="1">
                <a:solidFill>
                  <a:srgbClr val="2D6E7E"/>
                </a:solidFill>
                <a:latin typeface="Calibri"/>
              </a:rPr>
              <a:t>FUTURE · THE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1A1F2B"/>
                </a:solidFill>
                <a:latin typeface="Calibri"/>
              </a:rPr>
              <a:t>Then: go after the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07040" cy="2794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5B6372"/>
                </a:solidFill>
                <a:latin typeface="Calibri"/>
              </a:rPr>
              <a:t>Cross-Layer Transcoders · ESM-2 650M · SAGE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Calibri"/>
              </a:rPr>
              <a:t>09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607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2D6E7E"/>
                </a:solidFill>
                <a:latin typeface="Calibri"/>
              </a:rPr>
              <a:t>▪  </a:t>
            </a:r>
            <a:r>
              <a:rPr sz="1650" b="0">
                <a:solidFill>
                  <a:srgbClr val="1A1F2B"/>
                </a:solidFill>
                <a:latin typeface="Calibri"/>
              </a:rPr>
              <a:t>Reproduce and sharpen Nainani's motif→domain contact circuit with CLTs (actual cross-layer wiring) via activation patching.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2D6E7E"/>
                </a:solidFill>
                <a:latin typeface="Calibri"/>
              </a:rPr>
              <a:t>▪  </a:t>
            </a:r>
            <a:r>
              <a:rPr sz="1650" b="0">
                <a:solidFill>
                  <a:srgbClr val="1A1F2B"/>
                </a:solidFill>
                <a:latin typeface="Calibri"/>
              </a:rPr>
              <a:t>Circuit discovery at 650M — ProtoMech-style greedy latent selection + integrated gradients. Do larger models use the same circuits at higher resolution?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2D6E7E"/>
                </a:solidFill>
                <a:latin typeface="Calibri"/>
              </a:rPr>
              <a:t>▪  </a:t>
            </a:r>
            <a:r>
              <a:rPr sz="1650" b="0">
                <a:solidFill>
                  <a:srgbClr val="1A1F2B"/>
                </a:solidFill>
                <a:latin typeface="Calibri"/>
              </a:rPr>
              <a:t>Causal validation — ProteinGym: test whether circuit-relevant CLT features alone predict mutation effects.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2D6E7E"/>
                </a:solidFill>
                <a:latin typeface="Calibri"/>
              </a:rPr>
              <a:t>▪  </a:t>
            </a:r>
            <a:r>
              <a:rPr sz="1650" b="0">
                <a:solidFill>
                  <a:srgbClr val="1A1F2B"/>
                </a:solidFill>
                <a:latin typeface="Calibri"/>
              </a:rPr>
              <a:t>Scale out — carry the optimized pipeline to ESM-C 3B–6B, the target that makes the efficiency work worth doing now.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1200"/>
            </a:pPr>
            <a:r>
              <a:rPr sz="1200" b="1">
                <a:solidFill>
                  <a:srgbClr val="2D6E7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1A1F2B"/>
                </a:solidFill>
                <a:latin typeface="Calibri"/>
              </a:rPr>
              <a:t>Training works. Now make it scale.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0607040" cy="27940"/>
          </a:xfrm>
          <a:prstGeom prst="rect">
            <a:avLst/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5B6372"/>
                </a:solidFill>
                <a:latin typeface="Calibri"/>
              </a:rPr>
              <a:t>Cross-Layer Transcoders · ESM-2 650M · SAGE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Calibri"/>
              </a:rPr>
              <a:t>10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10607040" cy="3566160"/>
          </a:xfrm>
          <a:prstGeom prst="rect">
            <a:avLst/>
          </a:prstGeom>
          <a:solidFill>
            <a:srgbClr val="F1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514600"/>
            <a:ext cx="969264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2D6E7E"/>
                </a:solidFill>
                <a:latin typeface="Calibri"/>
              </a:rPr>
              <a:t>▪  </a:t>
            </a:r>
            <a:r>
              <a:rPr sz="1800" b="0">
                <a:solidFill>
                  <a:srgbClr val="1A1F2B"/>
                </a:solidFill>
                <a:latin typeface="Calibri"/>
              </a:rPr>
              <a:t>Done — CLT + KL-FVU + tensor-parallel training running on ESM-2 650M.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2D6E7E"/>
                </a:solidFill>
                <a:latin typeface="Calibri"/>
              </a:rPr>
              <a:t>▪  </a:t>
            </a:r>
            <a:r>
              <a:rPr sz="1800" b="0">
                <a:solidFill>
                  <a:srgbClr val="1A1F2B"/>
                </a:solidFill>
                <a:latin typeface="Calibri"/>
              </a:rPr>
              <a:t>Now — profile, cache activations, shrink and factorize the CLT to hit the target gates.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2D6E7E"/>
                </a:solidFill>
                <a:latin typeface="Calibri"/>
              </a:rPr>
              <a:t>▪  </a:t>
            </a:r>
            <a:r>
              <a:rPr sz="1800" b="0">
                <a:solidFill>
                  <a:srgbClr val="1A1F2B"/>
                </a:solidFill>
                <a:latin typeface="Calibri"/>
              </a:rPr>
              <a:t>Next — motif→domain circuits at 650M, ProteinGym validation, scale to ESM-C 3B–6B.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